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anumSquare ExtraBold"/>
      <p:bold r:id="rId13"/>
    </p:embeddedFont>
    <p:embeddedFont>
      <p:font typeface="NanumSquare Regular"/>
      <p:regular r:id="rId14"/>
    </p:embeddedFont>
    <p:embeddedFont>
      <p:font typeface="Pretendard SemiBold"/>
      <p:bold r:id="rId15"/>
    </p:embeddedFont>
    <p:embeddedFont>
      <p:font typeface="Pretendard Regular"/>
      <p:regular r:id="rId16"/>
    </p:embeddedFont>
    <p:embeddedFont>
      <p:font typeface="Pretendard Medium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16" Target="fonts/font4.fntdata" Type="http://schemas.openxmlformats.org/officeDocument/2006/relationships/font"/><Relationship Id="rId17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876300" y="4000500"/>
            <a:ext cx="165227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4F565C"/>
                </a:solidFill>
                <a:latin typeface="NanumSquare ExtraBold"/>
              </a:rPr>
              <a:t>2D </a:t>
            </a:r>
            <a:r>
              <a:rPr lang="ko-KR" sz="6000" b="false" i="false" u="none" strike="noStrike">
                <a:solidFill>
                  <a:srgbClr val="4F565C"/>
                </a:solidFill>
                <a:ea typeface="NanumSquare ExtraBold"/>
              </a:rPr>
              <a:t>게임</a:t>
            </a:r>
            <a:r>
              <a:rPr lang="en-US" sz="60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6000" b="false" i="false" u="none" strike="noStrike">
                <a:solidFill>
                  <a:srgbClr val="4F565C"/>
                </a:solidFill>
                <a:ea typeface="NanumSquare ExtraBold"/>
              </a:rPr>
              <a:t>프로그래밍</a:t>
            </a:r>
          </a:p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4F565C"/>
                </a:solidFill>
                <a:latin typeface="NanumSquare ExtraBold"/>
              </a:rPr>
              <a:t>1</a:t>
            </a:r>
            <a:r>
              <a:rPr lang="ko-KR" sz="6000" b="false" i="false" u="none" strike="noStrike">
                <a:solidFill>
                  <a:srgbClr val="4F565C"/>
                </a:solidFill>
                <a:ea typeface="NanumSquare ExtraBold"/>
              </a:rPr>
              <a:t>차</a:t>
            </a:r>
            <a:r>
              <a:rPr lang="en-US" sz="60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6000" b="false" i="false" u="none" strike="noStrike">
                <a:solidFill>
                  <a:srgbClr val="4F565C"/>
                </a:solidFill>
                <a:ea typeface="NanumSquare ExtraBold"/>
              </a:rPr>
              <a:t>프로젝트</a:t>
            </a:r>
            <a:r>
              <a:rPr lang="en-US" sz="6000" b="false" i="false" u="none" strike="noStrike">
                <a:solidFill>
                  <a:srgbClr val="4F565C"/>
                </a:solidFill>
                <a:latin typeface="NanumSquare ExtraBold"/>
              </a:rPr>
              <a:t> </a:t>
            </a:r>
            <a:r>
              <a:rPr lang="ko-KR" sz="6000" b="false" i="false" u="none" strike="noStrike">
                <a:solidFill>
                  <a:srgbClr val="4F565C"/>
                </a:solidFill>
                <a:ea typeface="NanumSquare ExtraBold"/>
              </a:rPr>
              <a:t>발표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7100" y="6464300"/>
            <a:ext cx="16421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NanumSquare Regular"/>
              </a:rPr>
              <a:t>2024182016 </a:t>
            </a:r>
            <a:r>
              <a:rPr lang="ko-KR" sz="2000" b="false" i="false" u="none" strike="noStrike">
                <a:solidFill>
                  <a:srgbClr val="000000"/>
                </a:solidFill>
                <a:ea typeface="NanumSquare Regular"/>
              </a:rPr>
              <a:t>배수빈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500" y="2882900"/>
            <a:ext cx="34290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5900" b="false" i="false" u="none" strike="noStrike">
                <a:solidFill>
                  <a:srgbClr val="4F565C">
                    <a:alpha val="40000"/>
                  </a:srgbClr>
                </a:solidFill>
                <a:latin typeface="NanumSquare ExtraBold"/>
              </a:rPr>
              <a:t>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68100" y="2082800"/>
            <a:ext cx="5740400" cy="7112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81100" y="2540000"/>
            <a:ext cx="100203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800" b="false" i="false" u="none" strike="noStrike">
                <a:solidFill>
                  <a:srgbClr val="000000"/>
                </a:solidFill>
                <a:ea typeface="Pretendard SemiBold"/>
              </a:rPr>
              <a:t>핵심</a:t>
            </a:r>
            <a:r>
              <a:rPr lang="en-US" sz="48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800" b="false" i="false" u="none" strike="noStrike">
                <a:solidFill>
                  <a:srgbClr val="000000"/>
                </a:solidFill>
                <a:ea typeface="Pretendard SemiBold"/>
              </a:rPr>
              <a:t>컨셉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1100" y="3632200"/>
            <a:ext cx="103505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Pixel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그래픽의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탑뷰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RPG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몬스터와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장애물로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가득한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뱀파이어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성의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싸워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조력자들과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탈출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컨셉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" y="5753100"/>
            <a:ext cx="100203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800" b="false" i="false" u="none" strike="noStrike">
                <a:solidFill>
                  <a:srgbClr val="000000"/>
                </a:solidFill>
                <a:ea typeface="Pretendard SemiBold"/>
              </a:rPr>
              <a:t>재미</a:t>
            </a:r>
            <a:r>
              <a:rPr lang="en-US" sz="48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4800" b="false" i="false" u="none" strike="noStrike">
                <a:solidFill>
                  <a:srgbClr val="000000"/>
                </a:solidFill>
                <a:ea typeface="Pretendard SemiBold"/>
              </a:rPr>
              <a:t>요소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" y="6832600"/>
            <a:ext cx="103505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죽더라도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무한히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살아나며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클리어까지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계속해서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성장하며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도전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레벨업을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하면서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강해지는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캐릭터와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해금되는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운에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얻을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보물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상자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보상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선택에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달라지는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게임의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난이도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장애물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패턴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23300" y="2057400"/>
            <a:ext cx="9017000" cy="610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진행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흐름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3289300"/>
            <a:ext cx="69596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약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20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개의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작은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맵에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랜덤하게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생성되는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몬스터를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잡아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레벨업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골드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파밍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레벨업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능력치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상승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해금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5118100"/>
            <a:ext cx="6959600" cy="386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조력자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: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맵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곳곳에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조력자가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될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NPC 3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명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조력자를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얻는다면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주인공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능력치와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능력을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획득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할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있으나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주인공이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죽으면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조력자는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영구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사망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하게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된다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3175000"/>
            <a:ext cx="9017000" cy="610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진행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흐름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17200" y="4508500"/>
            <a:ext cx="6731000" cy="287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상자를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파밍하여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장비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골드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물약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아이템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획득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얻은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골드는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상인을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물건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거래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  <a:p>
            <a:pPr algn="l" lvl="0">
              <a:lnSpc>
                <a:spcPct val="141100"/>
              </a:lnSpc>
            </a:pP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물약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지도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영구적인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능력치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상승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스크롤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사망하더라도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조력자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이외에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패널티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23300" y="2057400"/>
            <a:ext cx="9017000" cy="6108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23300" y="2057400"/>
            <a:ext cx="9017000" cy="6108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23300" y="2057400"/>
            <a:ext cx="9017000" cy="6108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진행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흐름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3289300"/>
            <a:ext cx="6959600" cy="386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나무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되어있는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문을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지나면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보스는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일반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몬스터보다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기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본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능력치가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높고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능력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있음</a:t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2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마리를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잡게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되면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철창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지나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최종</a:t>
            </a: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667500" y="1968500"/>
            <a:ext cx="10325100" cy="6845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게임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진행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흐름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7800" y="5156200"/>
            <a:ext cx="54102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제작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타일셋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2500" y="1003300"/>
            <a:ext cx="88900" cy="482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81100" y="990600"/>
            <a:ext cx="16217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개발</a:t>
            </a: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Pretendard Medium"/>
              </a:rPr>
              <a:t>일정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7000" y="3352800"/>
            <a:ext cx="10375900" cy="435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1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깃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저장소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Sprite sheet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정리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기획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문서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만들기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능력치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레벨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디자인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2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작성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(Object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Class,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변수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),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설정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3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시작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제작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타일셋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배치하여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맵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화면에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출력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4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몬스터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맵에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출력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move, attack, skill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5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제작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스탯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인벤토리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지도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상점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6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스테이지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제작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7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최종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보스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스테이지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제작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8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대사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추가</a:t>
            </a:r>
          </a:p>
          <a:p>
            <a:pPr algn="l" lvl="0">
              <a:lnSpc>
                <a:spcPct val="141100"/>
              </a:lnSpc>
            </a:pPr>
            <a:r>
              <a:rPr lang="en-US" sz="2300" b="true" i="false" u="none" strike="noStrike">
                <a:solidFill>
                  <a:srgbClr val="000000"/>
                </a:solidFill>
                <a:latin typeface="Pretendard Regular"/>
              </a:rPr>
              <a:t>9</a:t>
            </a:r>
            <a:r>
              <a:rPr lang="ko-KR" sz="2300" b="true" i="false" u="none" strike="noStrike">
                <a:solidFill>
                  <a:srgbClr val="000000"/>
                </a:solidFill>
                <a:ea typeface="Pretendard Regular"/>
              </a:rPr>
              <a:t>주차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최종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점검</a:t>
            </a:r>
            <a:r>
              <a:rPr lang="en-US" sz="23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300" b="false" i="false" u="none" strike="noStrike">
                <a:solidFill>
                  <a:srgbClr val="000000"/>
                </a:solidFill>
                <a:ea typeface="Pretendard Regular"/>
              </a:rPr>
              <a:t>디버깅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